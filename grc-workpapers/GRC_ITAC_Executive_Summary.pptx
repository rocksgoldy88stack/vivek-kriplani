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6400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libri"/>
              </a:rPr>
              <a:t>ITGC &amp; ITAC Audit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06324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 i="0">
                <a:solidFill>
                  <a:srgbClr val="D9E1F2"/>
                </a:solidFill>
                <a:latin typeface="Calibri"/>
              </a:rPr>
              <a:t>Executive Summary - Oracle Risk Management Cloud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3891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ABC Manufacturing Ltd.   |   FY 2025-26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8006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9E1F2"/>
                </a:solidFill>
                <a:latin typeface="Calibri"/>
              </a:rPr>
              <a:t>Oracle Fusion Cloud ERP (Release 24C)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9436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1">
                <a:solidFill>
                  <a:srgbClr val="595959"/>
                </a:solidFill>
                <a:latin typeface="Calibri"/>
              </a:rPr>
              <a:t>Prepared for Audit Committee  -  Confidential  -  Template for educational use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D9E1F2"/>
                </a:solidFill>
                <a:latin typeface="Calibri"/>
              </a:rPr>
              <a:t>GRC / ITGC-ITAC AUDIT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Executive Summary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651760" cy="1371600"/>
          </a:xfrm>
          <a:prstGeom prst="rect">
            <a:avLst/>
          </a:prstGeom>
          <a:solidFill>
            <a:srgbClr val="2E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81328"/>
            <a:ext cx="26517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40280"/>
            <a:ext cx="2651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Applications in scope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1371600"/>
            <a:ext cx="2651760" cy="1371600"/>
          </a:xfrm>
          <a:prstGeom prst="rect">
            <a:avLst/>
          </a:prstGeom>
          <a:solidFill>
            <a:srgbClr val="2E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0" y="1481328"/>
            <a:ext cx="26517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48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2240280"/>
            <a:ext cx="2651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Controls tested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371600"/>
            <a:ext cx="2651760" cy="1371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1481328"/>
            <a:ext cx="26517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64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2240280"/>
            <a:ext cx="2651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SoD conflicts (users)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61120" y="1371600"/>
            <a:ext cx="2743200" cy="13716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0" y="1481328"/>
            <a:ext cx="2743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2240280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Material weakness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06324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1F3864"/>
                </a:solidFill>
                <a:latin typeface="Calibri"/>
              </a:rPr>
              <a:t>Overall Conclusion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474720"/>
            <a:ext cx="112471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262626"/>
                </a:solidFill>
                <a:latin typeface="Calibri"/>
              </a:rPr>
              <a:t>The Oracle Fusion control environment is broadly functioning, with strong automated application controls (e.g., 3-way match). However, access governance requires urgent attention:</a:t>
            </a:r>
          </a:p>
          <a:p>
            <a:pPr algn="l"/>
            <a:r>
              <a:rPr sz="1300" b="0" i="0">
                <a:solidFill>
                  <a:srgbClr val="262626"/>
                </a:solidFill>
                <a:latin typeface="Calibri"/>
              </a:rPr>
              <a:t>-  1 Material Weakness: three finance users hold User Administration together with transaction posting.</a:t>
            </a:r>
          </a:p>
          <a:p>
            <a:pPr algn="l"/>
            <a:r>
              <a:rPr sz="1300" b="0" i="0">
                <a:solidFill>
                  <a:srgbClr val="262626"/>
                </a:solidFill>
                <a:latin typeface="Calibri"/>
              </a:rPr>
              <a:t>-  1 Significant Deficiency: developer access to migrate changes to production is not segregated.</a:t>
            </a:r>
          </a:p>
          <a:p>
            <a:pPr algn="l"/>
            <a:r>
              <a:rPr sz="1300" b="0" i="0">
                <a:solidFill>
                  <a:srgbClr val="262626"/>
                </a:solidFill>
                <a:latin typeface="Calibri"/>
              </a:rPr>
              <a:t>-  64 of 342 users (19%) carry at least one Segregation of Duties conflict.</a:t>
            </a:r>
          </a:p>
          <a:p>
            <a:pPr algn="l"/>
            <a:r>
              <a:rPr sz="1300" b="0" i="0">
                <a:solidFill>
                  <a:srgbClr val="262626"/>
                </a:solidFill>
                <a:latin typeface="Calibri"/>
              </a:rPr>
              <a:t>-  Automated controls tested effective; ITGC change management gap undermines reliance.</a:t>
            </a:r>
          </a:p>
          <a:p>
            <a:pPr algn="l"/>
            <a:r>
              <a:rPr sz="1300" b="0" i="0">
                <a:solidFill>
                  <a:srgbClr val="262626"/>
                </a:solidFill>
                <a:latin typeface="Calibri"/>
              </a:rPr>
              <a:t/>
            </a:r>
          </a:p>
          <a:p>
            <a:pPr algn="l"/>
            <a:r>
              <a:rPr sz="1300" b="0" i="0">
                <a:solidFill>
                  <a:srgbClr val="262626"/>
                </a:solidFill>
                <a:latin typeface="Calibri"/>
              </a:rPr>
              <a:t>A phased remediation roadmap is proposed, targeting critical access removal within 30 days.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595959"/>
                </a:solidFill>
                <a:latin typeface="Calibri"/>
              </a:rPr>
              <a:t>ABC Manufacturing Ltd.  |  FY 2025-26  |  Confidential - Template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D9E1F2"/>
                </a:solidFill>
                <a:latin typeface="Calibri"/>
              </a:rPr>
              <a:t>GRC / ITGC-ITAC AUDIT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Scope &amp; Approach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F3864"/>
                </a:solidFill>
                <a:latin typeface="Calibri"/>
              </a:rPr>
              <a:t>In-Scope Applications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737360"/>
            <a:ext cx="146304" cy="14630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64207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Calibri"/>
              </a:rPr>
              <a:t>Oracle General Ledger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121408"/>
            <a:ext cx="146304" cy="14630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048255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Calibri"/>
              </a:rPr>
              <a:t>Oracle Payables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505456"/>
            <a:ext cx="146304" cy="14630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432303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Calibri"/>
              </a:rPr>
              <a:t>Oracle Receivables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889503"/>
            <a:ext cx="146304" cy="14630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816351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Calibri"/>
              </a:rPr>
              <a:t>Oracle Fixed Assets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273551"/>
            <a:ext cx="146304" cy="14630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200399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Calibri"/>
              </a:rPr>
              <a:t>Oracle Inventory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657599"/>
            <a:ext cx="146304" cy="14630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584447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Calibri"/>
              </a:rPr>
              <a:t>Oracle HCM Payroll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128016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F3864"/>
                </a:solidFill>
                <a:latin typeface="Calibri"/>
              </a:rPr>
              <a:t>Domains Tested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1737360"/>
            <a:ext cx="1828800" cy="384048"/>
          </a:xfrm>
          <a:prstGeom prst="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1755648"/>
            <a:ext cx="17373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1F3864"/>
                </a:solidFill>
                <a:latin typeface="Calibri"/>
              </a:rPr>
              <a:t>ITGC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1755648"/>
            <a:ext cx="36576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Calibri"/>
              </a:rPr>
              <a:t>Access, Change, Operations, Backup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2240280"/>
            <a:ext cx="1828800" cy="384048"/>
          </a:xfrm>
          <a:prstGeom prst="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2258568"/>
            <a:ext cx="17373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1F3864"/>
                </a:solidFill>
                <a:latin typeface="Calibri"/>
              </a:rPr>
              <a:t>ITAC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2258568"/>
            <a:ext cx="36576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Calibri"/>
              </a:rPr>
              <a:t>Matching, calculations, validations, workflows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2743200"/>
            <a:ext cx="1828800" cy="384048"/>
          </a:xfrm>
          <a:prstGeom prst="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2761488"/>
            <a:ext cx="17373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1F3864"/>
                </a:solidFill>
                <a:latin typeface="Calibri"/>
              </a:rPr>
              <a:t>SoD / Access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2761488"/>
            <a:ext cx="36576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Calibri"/>
              </a:rPr>
              <a:t>87-rule ruleset via Oracle AAC (path-based)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3246120"/>
            <a:ext cx="1828800" cy="384048"/>
          </a:xfrm>
          <a:prstGeom prst="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3264408"/>
            <a:ext cx="17373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1F3864"/>
                </a:solidFill>
                <a:latin typeface="Calibri"/>
              </a:rPr>
              <a:t>Transaction Monitoring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66760" y="3264408"/>
            <a:ext cx="36576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Calibri"/>
              </a:rPr>
              <a:t>15 ATC models (duplicate pay, ghost vendor)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3749039"/>
            <a:ext cx="1828800" cy="384048"/>
          </a:xfrm>
          <a:prstGeom prst="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92240" y="3767327"/>
            <a:ext cx="17373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1F3864"/>
                </a:solidFill>
                <a:latin typeface="Calibri"/>
              </a:rPr>
              <a:t>Substantive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66760" y="3767327"/>
            <a:ext cx="36576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Calibri"/>
              </a:rPr>
              <a:t>Reperformance / recalculation (limited)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5669280"/>
            <a:ext cx="1124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1">
                <a:solidFill>
                  <a:srgbClr val="595959"/>
                </a:solidFill>
                <a:latin typeface="Calibri"/>
              </a:rPr>
              <a:t>Approach: controls-reliance strategy with limited substantive testing. Automated controls tested via test-of-one + ITGC reliance; manual/IT-dependent via attribute sampling. Overall materiality INR 12.5 Cr.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595959"/>
                </a:solidFill>
                <a:latin typeface="Calibri"/>
              </a:rPr>
              <a:t>ABC Manufacturing Ltd.  |  FY 2025-26  |  Confidential - Template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D9E1F2"/>
                </a:solidFill>
                <a:latin typeface="Calibri"/>
              </a:rPr>
              <a:t>GRC / ITGC-ITAC AUDIT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Findings - Rating Summary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743200" cy="128016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81328"/>
            <a:ext cx="2743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8600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Material Weakness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88920"/>
            <a:ext cx="27432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 i="0">
                <a:solidFill>
                  <a:srgbClr val="262626"/>
                </a:solidFill>
                <a:latin typeface="Calibri"/>
              </a:rPr>
              <a:t>Reasonable possibility of material misstatement not prevented/detected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46704" y="1371600"/>
            <a:ext cx="2743200" cy="12801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46704" y="1481328"/>
            <a:ext cx="2743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46704" y="228600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Significant Deficiency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46704" y="2788920"/>
            <a:ext cx="27432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 i="0">
                <a:solidFill>
                  <a:srgbClr val="262626"/>
                </a:solidFill>
                <a:latin typeface="Calibri"/>
              </a:rPr>
              <a:t>Merits governance attention; not material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36208" y="1371600"/>
            <a:ext cx="2743200" cy="1280160"/>
          </a:xfrm>
          <a:prstGeom prst="rect">
            <a:avLst/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6208" y="1481328"/>
            <a:ext cx="2743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6208" y="228600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Control Deficiency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36208" y="2788920"/>
            <a:ext cx="27432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 i="0">
                <a:solidFill>
                  <a:srgbClr val="262626"/>
                </a:solidFill>
                <a:latin typeface="Calibri"/>
              </a:rPr>
              <a:t>Control missing or not operating as designed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25712" y="1371600"/>
            <a:ext cx="2743200" cy="1280160"/>
          </a:xfrm>
          <a:prstGeom prst="rect">
            <a:avLst/>
          </a:prstGeom>
          <a:solidFill>
            <a:srgbClr val="2E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25712" y="1481328"/>
            <a:ext cx="2743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25712" y="228600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Observations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25712" y="2788920"/>
            <a:ext cx="27432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 i="0">
                <a:solidFill>
                  <a:srgbClr val="262626"/>
                </a:solidFill>
                <a:latin typeface="Calibri"/>
              </a:rPr>
              <a:t>Process improvement opportunities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29768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F3864"/>
                </a:solidFill>
                <a:latin typeface="Calibri"/>
              </a:rPr>
              <a:t>Severity Assessment Logic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709160"/>
            <a:ext cx="112471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262626"/>
                </a:solidFill>
                <a:latin typeface="Calibri"/>
              </a:rPr>
              <a:t>Each deficiency is evaluated on: (1) Could it cause a misstatement?  (2) Magnitude?  (3) Likelihood?  (4) Are there effective compensating controls?  -&gt;  classified as Control Deficiency, Significant Deficiency, or Material Weakness.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595959"/>
                </a:solidFill>
                <a:latin typeface="Calibri"/>
              </a:rPr>
              <a:t>ABC Manufacturing Ltd.  |  FY 2025-26  |  Confidential - Template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D9E1F2"/>
                </a:solidFill>
                <a:latin typeface="Calibri"/>
              </a:rPr>
              <a:t>GRC / ITGC-ITAC AUDIT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Risk Heat Map - Likelihood vs Impact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2103120" y="1554480"/>
            <a:ext cx="1234440" cy="1234440"/>
          </a:xfrm>
          <a:prstGeom prst="rect">
            <a:avLst/>
          </a:prstGeom>
          <a:solidFill>
            <a:srgbClr val="FFEB9C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337560" y="1554480"/>
            <a:ext cx="1234440" cy="1234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0" y="1554480"/>
            <a:ext cx="1234440" cy="1234440"/>
          </a:xfrm>
          <a:prstGeom prst="rect">
            <a:avLst/>
          </a:prstGeom>
          <a:solidFill>
            <a:srgbClr val="FFC7C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103120" y="2788920"/>
            <a:ext cx="1234440" cy="1234440"/>
          </a:xfrm>
          <a:prstGeom prst="rect">
            <a:avLst/>
          </a:prstGeom>
          <a:solidFill>
            <a:srgbClr val="C6EFC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37560" y="2788920"/>
            <a:ext cx="1234440" cy="1234440"/>
          </a:xfrm>
          <a:prstGeom prst="rect">
            <a:avLst/>
          </a:prstGeom>
          <a:solidFill>
            <a:srgbClr val="FFEB9C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0" y="2788920"/>
            <a:ext cx="1234440" cy="1234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103120" y="4023360"/>
            <a:ext cx="1234440" cy="1234440"/>
          </a:xfrm>
          <a:prstGeom prst="rect">
            <a:avLst/>
          </a:prstGeom>
          <a:solidFill>
            <a:srgbClr val="C6EFC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37560" y="4023360"/>
            <a:ext cx="1234440" cy="1234440"/>
          </a:xfrm>
          <a:prstGeom prst="rect">
            <a:avLst/>
          </a:prstGeom>
          <a:solidFill>
            <a:srgbClr val="C6EFC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0" y="4023360"/>
            <a:ext cx="1234440" cy="1234440"/>
          </a:xfrm>
          <a:prstGeom prst="rect">
            <a:avLst/>
          </a:prstGeom>
          <a:solidFill>
            <a:srgbClr val="FFEB9C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19" y="1554480"/>
            <a:ext cx="173736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 i="0">
                <a:solidFill>
                  <a:srgbClr val="262626"/>
                </a:solidFill>
                <a:latin typeface="Calibri"/>
              </a:rPr>
              <a:t>High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19" y="2788920"/>
            <a:ext cx="173736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 i="0">
                <a:solidFill>
                  <a:srgbClr val="262626"/>
                </a:solidFill>
                <a:latin typeface="Calibri"/>
              </a:rPr>
              <a:t>Medium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19" y="4023360"/>
            <a:ext cx="173736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 i="0">
                <a:solidFill>
                  <a:srgbClr val="262626"/>
                </a:solidFill>
                <a:latin typeface="Calibri"/>
              </a:rPr>
              <a:t>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0" y="109728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F3864"/>
                </a:solidFill>
                <a:latin typeface="Calibri"/>
              </a:rPr>
              <a:t>LIKELIHOOD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20" y="5303520"/>
            <a:ext cx="1234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262626"/>
                </a:solidFill>
                <a:latin typeface="Calibri"/>
              </a:rPr>
              <a:t>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37560" y="5303520"/>
            <a:ext cx="1234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262626"/>
                </a:solidFill>
                <a:latin typeface="Calibri"/>
              </a:rPr>
              <a:t>Medium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5303520"/>
            <a:ext cx="1234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262626"/>
                </a:solidFill>
                <a:latin typeface="Calibri"/>
              </a:rPr>
              <a:t>High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37560" y="5669280"/>
            <a:ext cx="1234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i="0">
                <a:solidFill>
                  <a:srgbClr val="1F3864"/>
                </a:solidFill>
                <a:latin typeface="Calibri"/>
              </a:rPr>
              <a:t>IMPACT</a:t>
            </a:r>
          </a:p>
        </p:txBody>
      </p:sp>
      <p:sp>
        <p:nvSpPr>
          <p:cNvPr id="23" name="Oval 22"/>
          <p:cNvSpPr/>
          <p:nvPr/>
        </p:nvSpPr>
        <p:spPr>
          <a:xfrm>
            <a:off x="4960620" y="1943100"/>
            <a:ext cx="457200" cy="457200"/>
          </a:xfrm>
          <a:prstGeom prst="ellipse">
            <a:avLst/>
          </a:prstGeom>
          <a:solidFill>
            <a:srgbClr val="E0000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D-08</a:t>
            </a:r>
          </a:p>
        </p:txBody>
      </p:sp>
      <p:sp>
        <p:nvSpPr>
          <p:cNvPr id="24" name="Oval 23"/>
          <p:cNvSpPr/>
          <p:nvPr/>
        </p:nvSpPr>
        <p:spPr>
          <a:xfrm>
            <a:off x="4046220" y="3177539"/>
            <a:ext cx="457200" cy="457200"/>
          </a:xfrm>
          <a:prstGeom prst="ellipse">
            <a:avLst/>
          </a:prstGeom>
          <a:solidFill>
            <a:srgbClr val="C0000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D-05</a:t>
            </a:r>
          </a:p>
        </p:txBody>
      </p:sp>
      <p:sp>
        <p:nvSpPr>
          <p:cNvPr id="25" name="Oval 24"/>
          <p:cNvSpPr/>
          <p:nvPr/>
        </p:nvSpPr>
        <p:spPr>
          <a:xfrm>
            <a:off x="2491739" y="2263140"/>
            <a:ext cx="457200" cy="457200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D-03</a:t>
            </a:r>
          </a:p>
        </p:txBody>
      </p:sp>
      <p:sp>
        <p:nvSpPr>
          <p:cNvPr id="26" name="Oval 25"/>
          <p:cNvSpPr/>
          <p:nvPr/>
        </p:nvSpPr>
        <p:spPr>
          <a:xfrm>
            <a:off x="2491739" y="4411980"/>
            <a:ext cx="457200" cy="457200"/>
          </a:xfrm>
          <a:prstGeom prst="ellipse">
            <a:avLst/>
          </a:prstGeom>
          <a:solidFill>
            <a:srgbClr val="BF8F0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D-11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9400" y="1463040"/>
            <a:ext cx="3840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F3864"/>
                </a:solidFill>
                <a:latin typeface="Calibri"/>
              </a:rPr>
              <a:t>Findings Plotted</a:t>
            </a:r>
          </a:p>
        </p:txBody>
      </p:sp>
      <p:sp>
        <p:nvSpPr>
          <p:cNvPr id="28" name="Oval 27"/>
          <p:cNvSpPr/>
          <p:nvPr/>
        </p:nvSpPr>
        <p:spPr>
          <a:xfrm>
            <a:off x="6629400" y="1965960"/>
            <a:ext cx="274320" cy="274320"/>
          </a:xfrm>
          <a:prstGeom prst="ellipse">
            <a:avLst/>
          </a:prstGeom>
          <a:solidFill>
            <a:srgbClr val="E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13448" y="1911095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Calibri"/>
              </a:rPr>
              <a:t>D-08 - Privileged access / SoD (Material Weakness)</a:t>
            </a:r>
          </a:p>
        </p:txBody>
      </p:sp>
      <p:sp>
        <p:nvSpPr>
          <p:cNvPr id="30" name="Oval 29"/>
          <p:cNvSpPr/>
          <p:nvPr/>
        </p:nvSpPr>
        <p:spPr>
          <a:xfrm>
            <a:off x="6629400" y="2532888"/>
            <a:ext cx="274320" cy="27432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13448" y="2478024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Calibri"/>
              </a:rPr>
              <a:t>D-05 - Change segregation (Significant Deficiency)</a:t>
            </a:r>
          </a:p>
        </p:txBody>
      </p:sp>
      <p:sp>
        <p:nvSpPr>
          <p:cNvPr id="32" name="Oval 31"/>
          <p:cNvSpPr/>
          <p:nvPr/>
        </p:nvSpPr>
        <p:spPr>
          <a:xfrm>
            <a:off x="6629400" y="3099816"/>
            <a:ext cx="274320" cy="27432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13448" y="3044952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Calibri"/>
              </a:rPr>
              <a:t>D-03 - Provisioning approval (Control Deficiency)</a:t>
            </a:r>
          </a:p>
        </p:txBody>
      </p:sp>
      <p:sp>
        <p:nvSpPr>
          <p:cNvPr id="34" name="Oval 33"/>
          <p:cNvSpPr/>
          <p:nvPr/>
        </p:nvSpPr>
        <p:spPr>
          <a:xfrm>
            <a:off x="6629400" y="3666744"/>
            <a:ext cx="274320" cy="274320"/>
          </a:xfrm>
          <a:prstGeom prst="ellipse">
            <a:avLst/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13448" y="3611879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Calibri"/>
              </a:rPr>
              <a:t>D-11 - Depreciation rounding (Control Deficiency)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595959"/>
                </a:solidFill>
                <a:latin typeface="Calibri"/>
              </a:rPr>
              <a:t>ABC Manufacturing Ltd.  |  FY 2025-26  |  Confidential - Template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D9E1F2"/>
                </a:solidFill>
                <a:latin typeface="Calibri"/>
              </a:rPr>
              <a:t>GRC / ITGC-ITAC AUDIT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Key Findings - Detail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11247120" cy="23317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25880"/>
            <a:ext cx="146304" cy="233172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35607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C00000"/>
                </a:solidFill>
                <a:latin typeface="Calibri"/>
              </a:rPr>
              <a:t>D-08  |  MATERIAL WEAKNESS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8308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1F3864"/>
                </a:solidFill>
                <a:latin typeface="Calibri"/>
              </a:rPr>
              <a:t>Excessive privileged access - SoD violation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4028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Calibri"/>
              </a:rPr>
              <a:t>Condition: 3 finance users hold User Administration + transaction posting.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624328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Calibri"/>
              </a:rPr>
              <a:t>Effect: Risk of self-granted access &amp; fraudulent entries; potential material misstatement.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136391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2E7D32"/>
                </a:solidFill>
                <a:latin typeface="Calibri"/>
              </a:rPr>
              <a:t>Action: Remove User Admin duty; quarterly access certification.  Target: 15-Jul-2026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840480"/>
            <a:ext cx="11247120" cy="23317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840480"/>
            <a:ext cx="146304" cy="2331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95020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Calibri"/>
              </a:rPr>
              <a:t>D-05  |  SIGNIFICANT DEFICIENCY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29768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1F3864"/>
                </a:solidFill>
                <a:latin typeface="Calibri"/>
              </a:rPr>
              <a:t>Inadequate change management segregation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75488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Calibri"/>
              </a:rPr>
              <a:t>Condition: Developer had production migration access.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138928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Calibri"/>
              </a:rPr>
              <a:t>Effect: Unauthorized / untested changes could reach production.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650992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2E7D32"/>
                </a:solidFill>
                <a:latin typeface="Calibri"/>
              </a:rPr>
              <a:t>Action: Segregate dev &amp; migration; enforce approval gate.  Target: 31-Aug-2026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595959"/>
                </a:solidFill>
                <a:latin typeface="Calibri"/>
              </a:rPr>
              <a:t>ABC Manufacturing Ltd.  |  FY 2025-26  |  Confidential - Template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D9E1F2"/>
                </a:solidFill>
                <a:latin typeface="Calibri"/>
              </a:rPr>
              <a:t>GRC / ITGC-ITAC AUDIT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Segregation of Duties - Access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743200" cy="1280160"/>
          </a:xfrm>
          <a:prstGeom prst="rect">
            <a:avLst/>
          </a:prstGeom>
          <a:solidFill>
            <a:srgbClr val="2E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81328"/>
            <a:ext cx="2743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342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39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Users scanned</a:t>
            </a:r>
          </a:p>
        </p:txBody>
      </p:sp>
      <p:sp>
        <p:nvSpPr>
          <p:cNvPr id="9" name="Rectangle 8"/>
          <p:cNvSpPr/>
          <p:nvPr/>
        </p:nvSpPr>
        <p:spPr>
          <a:xfrm>
            <a:off x="3346704" y="1371600"/>
            <a:ext cx="2743200" cy="12801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46704" y="1481328"/>
            <a:ext cx="2743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64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46704" y="2148839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Users w/ conflict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6208" y="1371600"/>
            <a:ext cx="2743200" cy="128016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36208" y="1481328"/>
            <a:ext cx="2743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36208" y="2148839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Critical conflicts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25712" y="1371600"/>
            <a:ext cx="2606040" cy="12801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25712" y="1481328"/>
            <a:ext cx="2606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87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25712" y="2148839"/>
            <a:ext cx="2606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SoD rules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92608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F3864"/>
                </a:solidFill>
                <a:latin typeface="Calibri"/>
              </a:rPr>
              <a:t>Conflicts by Process (bar)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383280"/>
            <a:ext cx="11887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262626"/>
                </a:solidFill>
                <a:latin typeface="Calibri"/>
              </a:rPr>
              <a:t>P2P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737360" y="3429000"/>
            <a:ext cx="8686800" cy="29260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0" y="3383280"/>
            <a:ext cx="1371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262626"/>
                </a:solidFill>
                <a:latin typeface="Calibri"/>
              </a:rPr>
              <a:t>23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840480"/>
            <a:ext cx="11887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262626"/>
                </a:solidFill>
                <a:latin typeface="Calibri"/>
              </a:rPr>
              <a:t>R2R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737360" y="3886200"/>
            <a:ext cx="5287617" cy="29260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16417" y="3840480"/>
            <a:ext cx="1371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262626"/>
                </a:solidFill>
                <a:latin typeface="Calibri"/>
              </a:rPr>
              <a:t>14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297680"/>
            <a:ext cx="11887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262626"/>
                </a:solidFill>
                <a:latin typeface="Calibri"/>
              </a:rPr>
              <a:t>O2C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737360" y="4343400"/>
            <a:ext cx="3776869" cy="29260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05669" y="4297680"/>
            <a:ext cx="1371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262626"/>
                </a:solidFill>
                <a:latin typeface="Calibri"/>
              </a:rPr>
              <a:t>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754880"/>
            <a:ext cx="11887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262626"/>
                </a:solidFill>
                <a:latin typeface="Calibri"/>
              </a:rPr>
              <a:t>Payroll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737360" y="4800600"/>
            <a:ext cx="3021495" cy="292608"/>
          </a:xfrm>
          <a:prstGeom prst="rect">
            <a:avLst/>
          </a:prstGeom>
          <a:solidFill>
            <a:srgbClr val="2E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50295" y="4754880"/>
            <a:ext cx="1371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262626"/>
                </a:solidFill>
                <a:latin typeface="Calibri"/>
              </a:rPr>
              <a:t>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212080"/>
            <a:ext cx="11887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262626"/>
                </a:solidFill>
                <a:latin typeface="Calibri"/>
              </a:rPr>
              <a:t>Security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737360" y="5257800"/>
            <a:ext cx="1888434" cy="29260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717234" y="5212080"/>
            <a:ext cx="1371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262626"/>
                </a:solidFill>
                <a:latin typeface="Calibri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5669280"/>
            <a:ext cx="11887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262626"/>
                </a:solidFill>
                <a:latin typeface="Calibri"/>
              </a:rPr>
              <a:t>Others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737360" y="5715000"/>
            <a:ext cx="1510747" cy="292608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39547" y="5669280"/>
            <a:ext cx="1371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262626"/>
                </a:solidFill>
                <a:latin typeface="Calibri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595959"/>
                </a:solidFill>
                <a:latin typeface="Calibri"/>
              </a:rPr>
              <a:t>ABC Manufacturing Ltd.  |  FY 2025-26  |  Confidential - Template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D9E1F2"/>
                </a:solidFill>
                <a:latin typeface="Calibri"/>
              </a:rPr>
              <a:t>GRC / ITGC-ITAC AUDIT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Continuous Monitoring - Dashboard Snapshot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36118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128016" cy="12801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81328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595959"/>
                </a:solidFill>
                <a:latin typeface="Calibri"/>
              </a:rPr>
              <a:t>Open incidents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83080"/>
            <a:ext cx="3200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F3864"/>
                </a:solidFill>
                <a:latin typeface="Calibri"/>
              </a:rPr>
              <a:t>64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304288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Calibri"/>
              </a:rPr>
              <a:t>v from 78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60" y="1371600"/>
            <a:ext cx="36118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51960" y="1371600"/>
            <a:ext cx="128016" cy="12801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1481328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595959"/>
                </a:solidFill>
                <a:latin typeface="Calibri"/>
              </a:rPr>
              <a:t>Mean time to remediate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1783080"/>
            <a:ext cx="3200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F3864"/>
                </a:solidFill>
                <a:latin typeface="Calibri"/>
              </a:rPr>
              <a:t>28d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304288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Calibri"/>
              </a:rPr>
              <a:t>target &lt; 21d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20" y="1371600"/>
            <a:ext cx="36118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1371600"/>
            <a:ext cx="128016" cy="12801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1481328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595959"/>
                </a:solidFill>
                <a:latin typeface="Calibri"/>
              </a:rPr>
              <a:t>False-positive rate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1783080"/>
            <a:ext cx="3200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F3864"/>
                </a:solidFill>
                <a:latin typeface="Calibri"/>
              </a:rPr>
              <a:t>11%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2304288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2E7D32"/>
                </a:solidFill>
                <a:latin typeface="Calibri"/>
              </a:rPr>
              <a:t>v from 24%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834640"/>
            <a:ext cx="36118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2834640"/>
            <a:ext cx="128016" cy="12801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2944368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595959"/>
                </a:solidFill>
                <a:latin typeface="Calibri"/>
              </a:rPr>
              <a:t>Control coverage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3246120"/>
            <a:ext cx="3200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F3864"/>
                </a:solidFill>
                <a:latin typeface="Calibri"/>
              </a:rPr>
              <a:t>83%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3767328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Calibri"/>
              </a:rPr>
              <a:t>target 100%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51960" y="2834640"/>
            <a:ext cx="36118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51960" y="2834640"/>
            <a:ext cx="128016" cy="12801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26280" y="2944368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595959"/>
                </a:solidFill>
                <a:latin typeface="Calibri"/>
              </a:rPr>
              <a:t>Overdue remediations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26280" y="3246120"/>
            <a:ext cx="3200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F3864"/>
                </a:solidFill>
                <a:latin typeface="Calibr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26280" y="3767328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Calibri"/>
              </a:rPr>
              <a:t>v from 9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46720" y="2834640"/>
            <a:ext cx="36118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46720" y="2834640"/>
            <a:ext cx="128016" cy="128016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21040" y="2944368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595959"/>
                </a:solidFill>
                <a:latin typeface="Calibri"/>
              </a:rPr>
              <a:t>Critical open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3246120"/>
            <a:ext cx="3200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F3864"/>
                </a:solidFill>
                <a:latin typeface="Calibri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0" y="3767328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C00000"/>
                </a:solidFill>
                <a:latin typeface="Calibri"/>
              </a:rPr>
              <a:t>target 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448056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F3864"/>
                </a:solidFill>
                <a:latin typeface="Calibri"/>
              </a:rPr>
              <a:t>ATC Transaction Monitoring - Value at Risk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4892040"/>
            <a:ext cx="112471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262626"/>
                </a:solidFill>
                <a:latin typeface="Calibri"/>
              </a:rPr>
              <a:t>-  Duplicate payments: 12 flagged, 2 confirmed (INR 8.4 L) - under recovery</a:t>
            </a:r>
          </a:p>
          <a:p>
            <a:pPr algn="l"/>
            <a:r>
              <a:rPr sz="1300" b="0" i="0">
                <a:solidFill>
                  <a:srgbClr val="262626"/>
                </a:solidFill>
                <a:latin typeface="Calibri"/>
              </a:rPr>
              <a:t>-  Ghost vendor (bank match): 3 flagged, 1 confirmed (INR 12.0 L) - investigating</a:t>
            </a:r>
          </a:p>
          <a:p>
            <a:pPr algn="l"/>
            <a:r>
              <a:rPr sz="1300" b="0" i="0">
                <a:solidFill>
                  <a:srgbClr val="262626"/>
                </a:solidFill>
                <a:latin typeface="Calibri"/>
              </a:rPr>
              <a:t>-  Post-termination payments: 5 flagged, 3 confirmed (INR 2.15 L) - recovered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595959"/>
                </a:solidFill>
                <a:latin typeface="Calibri"/>
              </a:rPr>
              <a:t>ABC Manufacturing Ltd.  |  FY 2025-26  |  Confidential - Template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D9E1F2"/>
                </a:solidFill>
                <a:latin typeface="Calibri"/>
              </a:rPr>
              <a:t>GRC / ITGC-ITAC AUDIT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Remediation Roadmap - Phased Plan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834639"/>
            <a:ext cx="10698480" cy="73152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286000" y="2651760"/>
            <a:ext cx="457200" cy="457200"/>
          </a:xfrm>
          <a:prstGeom prst="ellipse">
            <a:avLst/>
          </a:prstGeom>
          <a:solidFill>
            <a:srgbClr val="C00000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914400"/>
            <a:ext cx="3383280" cy="15544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914400"/>
            <a:ext cx="3383280" cy="41148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932688"/>
            <a:ext cx="33832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Phase 1  (0-30 days)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417319"/>
            <a:ext cx="31089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262626"/>
                </a:solidFill>
                <a:latin typeface="Calibri"/>
              </a:rPr>
              <a:t>Critical access removal, disable super-users, obvious SoD fixes</a:t>
            </a:r>
          </a:p>
        </p:txBody>
      </p:sp>
      <p:sp>
        <p:nvSpPr>
          <p:cNvPr id="12" name="Oval 11"/>
          <p:cNvSpPr/>
          <p:nvPr/>
        </p:nvSpPr>
        <p:spPr>
          <a:xfrm>
            <a:off x="5897880" y="2651760"/>
            <a:ext cx="457200" cy="457200"/>
          </a:xfrm>
          <a:prstGeom prst="ellipse">
            <a:avLst/>
          </a:prstGeom>
          <a:solidFill>
            <a:srgbClr val="F59E0B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43400" y="914400"/>
            <a:ext cx="3383280" cy="15544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3400" y="914400"/>
            <a:ext cx="3383280" cy="4114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43400" y="932688"/>
            <a:ext cx="33832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Phase 2  (1-3 months)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1417319"/>
            <a:ext cx="31089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262626"/>
                </a:solidFill>
                <a:latin typeface="Calibri"/>
              </a:rPr>
              <a:t>Custom role redesign, AAC model deployment, workflow fixes</a:t>
            </a:r>
          </a:p>
        </p:txBody>
      </p:sp>
      <p:sp>
        <p:nvSpPr>
          <p:cNvPr id="17" name="Oval 16"/>
          <p:cNvSpPr/>
          <p:nvPr/>
        </p:nvSpPr>
        <p:spPr>
          <a:xfrm>
            <a:off x="9509760" y="2651760"/>
            <a:ext cx="457200" cy="457200"/>
          </a:xfrm>
          <a:prstGeom prst="ellipse">
            <a:avLst/>
          </a:prstGeom>
          <a:solidFill>
            <a:srgbClr val="2E7D32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55280" y="914400"/>
            <a:ext cx="3383280" cy="15544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55280" y="914400"/>
            <a:ext cx="3383280" cy="41148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55280" y="932688"/>
            <a:ext cx="33832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Phase 3  (3-6 months)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92440" y="1417319"/>
            <a:ext cx="31089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262626"/>
                </a:solidFill>
                <a:latin typeface="Calibri"/>
              </a:rPr>
              <a:t>Continuous monitoring, access certification, training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5661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1">
                <a:solidFill>
                  <a:srgbClr val="595959"/>
                </a:solidFill>
                <a:latin typeface="Calibri"/>
              </a:rPr>
              <a:t>Owners assigned per action; each remediation is re-tested and evidence re-performed before closure.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5120640"/>
            <a:ext cx="10698480" cy="914400"/>
          </a:xfrm>
          <a:prstGeom prst="rect">
            <a:avLst/>
          </a:prstGeom>
          <a:solidFill>
            <a:srgbClr val="FFC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230368"/>
            <a:ext cx="103327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C00000"/>
                </a:solidFill>
                <a:latin typeface="Calibri"/>
              </a:rPr>
              <a:t>Immediate priority (Phase 1): Remove User Administration duty from 3 finance users and validate via AAC re-scan (0 conflicts) by 15-Jul-2026.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595959"/>
                </a:solidFill>
                <a:latin typeface="Calibri"/>
              </a:rPr>
              <a:t>ABC Manufacturing Ltd.  |  FY 2025-26  |  Confidential - Template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D9E1F2"/>
                </a:solidFill>
                <a:latin typeface="Calibri"/>
              </a:rPr>
              <a:t>GRC / ITGC-ITAC AUDIT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Recommendations &amp; Next Steps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417320"/>
            <a:ext cx="502920" cy="50292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371600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F3864"/>
                </a:solidFill>
                <a:latin typeface="Calibri"/>
              </a:rPr>
              <a:t>Remediate the Material Weakness immediately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709928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262626"/>
                </a:solidFill>
                <a:latin typeface="Calibri"/>
              </a:rPr>
              <a:t>Remove privileged access from finance users; validate via AAC.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240280"/>
            <a:ext cx="502920" cy="50292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194560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F3864"/>
                </a:solidFill>
                <a:latin typeface="Calibri"/>
              </a:rPr>
              <a:t>Segregate change management duties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532888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262626"/>
                </a:solidFill>
                <a:latin typeface="Calibri"/>
              </a:rPr>
              <a:t>Split developer and production-migration access; enforce approval gate.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063240"/>
            <a:ext cx="502920" cy="50292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017520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F3864"/>
                </a:solidFill>
                <a:latin typeface="Calibri"/>
              </a:rPr>
              <a:t>Deploy continuous SoD monitoring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355848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262626"/>
                </a:solidFill>
                <a:latin typeface="Calibri"/>
              </a:rPr>
              <a:t>Operationalise the 87-rule AAC ruleset with scheduled synchronisation.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3886200"/>
            <a:ext cx="502920" cy="50292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840480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F3864"/>
                </a:solidFill>
                <a:latin typeface="Calibri"/>
              </a:rPr>
              <a:t>Institute periodic access certification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4178808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262626"/>
                </a:solidFill>
                <a:latin typeface="Calibri"/>
              </a:rPr>
              <a:t>Quarterly manager review-and-approve of team access.</a:t>
            </a:r>
          </a:p>
        </p:txBody>
      </p:sp>
      <p:sp>
        <p:nvSpPr>
          <p:cNvPr id="18" name="Oval 17"/>
          <p:cNvSpPr/>
          <p:nvPr/>
        </p:nvSpPr>
        <p:spPr>
          <a:xfrm>
            <a:off x="548640" y="4709160"/>
            <a:ext cx="502920" cy="50292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4663440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F3864"/>
                </a:solidFill>
                <a:latin typeface="Calibri"/>
              </a:rPr>
              <a:t>Strengthen automated controls reliance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5001768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262626"/>
                </a:solidFill>
                <a:latin typeface="Calibri"/>
              </a:rPr>
              <a:t>Lock configuration change management to sustain ITAC reliance.</a:t>
            </a:r>
          </a:p>
        </p:txBody>
      </p:sp>
      <p:sp>
        <p:nvSpPr>
          <p:cNvPr id="21" name="Oval 20"/>
          <p:cNvSpPr/>
          <p:nvPr/>
        </p:nvSpPr>
        <p:spPr>
          <a:xfrm>
            <a:off x="548640" y="5532120"/>
            <a:ext cx="502920" cy="50292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5486400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F3864"/>
                </a:solidFill>
                <a:latin typeface="Calibri"/>
              </a:rPr>
              <a:t>Track remediation to closure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5824728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262626"/>
                </a:solidFill>
                <a:latin typeface="Calibri"/>
              </a:rPr>
              <a:t>Owner + target date per finding; re-test and evidence before closing.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595959"/>
                </a:solidFill>
                <a:latin typeface="Calibri"/>
              </a:rPr>
              <a:t>ABC Manufacturing Ltd.  |  FY 2025-26  |  Confidential - Template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383280"/>
            <a:ext cx="12191695" cy="6400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56616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D9E1F2"/>
                </a:solidFill>
                <a:latin typeface="Calibri"/>
              </a:rPr>
              <a:t>Full workpaper package: 21-tab Excel workbook + supporting Word deliverables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02336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9E1F2"/>
                </a:solidFill>
                <a:latin typeface="Calibri"/>
              </a:rPr>
              <a:t>Refer to the grc-workpapers folder for detailed testing evidence and the remediation tracker.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